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76D64E-3122-49CC-8C4B-1C2C2C6EBC95}">
  <a:tblStyle styleId="{2576D64E-3122-49CC-8C4B-1C2C2C6EBC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CF99C97-50BE-4EA5-9760-22754CAFF92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e697856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6e697856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e69785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6e69785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e697856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6e697856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e69785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e69785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" name="Google Shape;14;p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1" name="Google Shape;31;p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40" name="Google Shape;40;p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9" name="Google Shape;59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86" name="Google Shape;86;p13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3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3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3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13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13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3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96" name="Google Shape;96;p13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265500" y="947775"/>
            <a:ext cx="40452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200"/>
              <a:buNone/>
            </a:pPr>
            <a:r>
              <a:rPr lang="en"/>
              <a:t>Self-Supervised Learning for 12-Lead ECG Classification on PTB-XL</a:t>
            </a: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4939534" y="2017046"/>
            <a:ext cx="3825543" cy="1573619"/>
            <a:chOff x="1000000" y="2393988"/>
            <a:chExt cx="4144235" cy="1704712"/>
          </a:xfrm>
        </p:grpSpPr>
        <p:sp>
          <p:nvSpPr>
            <p:cNvPr id="99" name="Google Shape;99;p13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09" name="Google Shape;109;p13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>
            <p:ph type="title"/>
          </p:nvPr>
        </p:nvSpPr>
        <p:spPr>
          <a:xfrm>
            <a:off x="311700" y="397175"/>
            <a:ext cx="85206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PTB-XL ECG Dataset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PhysioNet (2020)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Size: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~21,837 12-lead ECGs from ~18,885 patients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ECG Details: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Duration: 10 seconds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Sampling: 100 Hz (also 500 Hz)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Patient info: age, sex, heart rate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Imbalanced Dataset : Large proportion of the dataset is Normal Class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31947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BYOL</a:t>
            </a:r>
            <a:endParaRPr b="1" sz="3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8" name="Google Shape;128;p15"/>
          <p:cNvGrpSpPr/>
          <p:nvPr/>
        </p:nvGrpSpPr>
        <p:grpSpPr>
          <a:xfrm>
            <a:off x="431946" y="1304847"/>
            <a:ext cx="3976775" cy="3281452"/>
            <a:chOff x="431925" y="1304875"/>
            <a:chExt cx="2628925" cy="3416400"/>
          </a:xfrm>
        </p:grpSpPr>
        <p:sp>
          <p:nvSpPr>
            <p:cNvPr id="129" name="Google Shape;129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7800" lIns="87800" spcFirstLastPara="1" rIns="87800" wrap="square" tIns="8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800" lIns="87800" spcFirstLastPara="1" rIns="87800" wrap="square" tIns="8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15"/>
          <p:cNvSpPr txBox="1"/>
          <p:nvPr>
            <p:ph idx="4294967295" type="body"/>
          </p:nvPr>
        </p:nvSpPr>
        <p:spPr>
          <a:xfrm>
            <a:off x="544612" y="1304879"/>
            <a:ext cx="3773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800" lIns="87800" spcFirstLastPara="1" rIns="87800" wrap="square" tIns="87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28">
                <a:solidFill>
                  <a:schemeClr val="lt1"/>
                </a:solidFill>
              </a:rPr>
              <a:t>Pros</a:t>
            </a:r>
            <a:endParaRPr sz="1728">
              <a:solidFill>
                <a:schemeClr val="lt1"/>
              </a:solidFill>
            </a:endParaRPr>
          </a:p>
        </p:txBody>
      </p:sp>
      <p:sp>
        <p:nvSpPr>
          <p:cNvPr id="132" name="Google Shape;132;p15"/>
          <p:cNvSpPr txBox="1"/>
          <p:nvPr>
            <p:ph idx="4294967295" type="body"/>
          </p:nvPr>
        </p:nvSpPr>
        <p:spPr>
          <a:xfrm>
            <a:off x="431961" y="1748273"/>
            <a:ext cx="37494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800" lIns="87800" spcFirstLastPara="1" rIns="87800" wrap="square" tIns="8780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negative samples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so medium-sized datasets like ours are sufficient.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latent features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augmented ECG signals (time-warp, jitter, scaling)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handle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imbalanced datasets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starting point if we want embeddings for downstream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 or clustering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537"/>
              </a:spcBef>
              <a:spcAft>
                <a:spcPts val="1537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15"/>
          <p:cNvGrpSpPr/>
          <p:nvPr/>
        </p:nvGrpSpPr>
        <p:grpSpPr>
          <a:xfrm>
            <a:off x="4569198" y="1298707"/>
            <a:ext cx="3976654" cy="3287602"/>
            <a:chOff x="3320450" y="1304875"/>
            <a:chExt cx="2632500" cy="3416400"/>
          </a:xfrm>
        </p:grpSpPr>
        <p:sp>
          <p:nvSpPr>
            <p:cNvPr id="134" name="Google Shape;134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7975" lIns="87975" spcFirstLastPara="1" rIns="87975" wrap="square" tIns="87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975" lIns="87975" spcFirstLastPara="1" rIns="87975" wrap="square" tIns="87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5"/>
          <p:cNvSpPr txBox="1"/>
          <p:nvPr>
            <p:ph idx="4294967295" type="body"/>
          </p:nvPr>
        </p:nvSpPr>
        <p:spPr>
          <a:xfrm>
            <a:off x="4673686" y="1141575"/>
            <a:ext cx="37683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975" lIns="87975" spcFirstLastPara="1" rIns="87975" wrap="square" tIns="879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55"/>
              </a:spcBef>
              <a:spcAft>
                <a:spcPts val="0"/>
              </a:spcAft>
              <a:buSzPts val="1800"/>
              <a:buNone/>
            </a:pPr>
            <a:r>
              <a:rPr lang="en" sz="1732">
                <a:solidFill>
                  <a:schemeClr val="lt1"/>
                </a:solidFill>
              </a:rPr>
              <a:t>Cons</a:t>
            </a:r>
            <a:endParaRPr sz="1732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32">
              <a:solidFill>
                <a:schemeClr val="lt1"/>
              </a:solidFill>
            </a:endParaRPr>
          </a:p>
        </p:txBody>
      </p:sp>
      <p:sp>
        <p:nvSpPr>
          <p:cNvPr id="137" name="Google Shape;137;p15"/>
          <p:cNvSpPr txBox="1"/>
          <p:nvPr>
            <p:ph idx="4294967295" type="body"/>
          </p:nvPr>
        </p:nvSpPr>
        <p:spPr>
          <a:xfrm>
            <a:off x="4684752" y="1823588"/>
            <a:ext cx="37446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7975" lIns="87975" spcFirstLastPara="1" rIns="87975" wrap="square" tIns="8797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Doesn’t explicitly model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temporal predictive pattern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careful augmentation to avoid distorting ECG morphology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Byol</a:t>
            </a:r>
            <a:endParaRPr/>
          </a:p>
        </p:txBody>
      </p:sp>
      <p:pic>
        <p:nvPicPr>
          <p:cNvPr id="143" name="Google Shape;143;p16" title="Screenshot 2025-12-14 1941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5701958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31947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MAE</a:t>
            </a:r>
            <a:endParaRPr b="1" sz="3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431946" y="1304847"/>
            <a:ext cx="3976775" cy="3281452"/>
            <a:chOff x="431925" y="1304875"/>
            <a:chExt cx="2628925" cy="3416400"/>
          </a:xfrm>
        </p:grpSpPr>
        <p:sp>
          <p:nvSpPr>
            <p:cNvPr id="150" name="Google Shape;150;p1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7800" lIns="87800" spcFirstLastPara="1" rIns="87800" wrap="square" tIns="8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800" lIns="87800" spcFirstLastPara="1" rIns="87800" wrap="square" tIns="8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17"/>
          <p:cNvSpPr txBox="1"/>
          <p:nvPr>
            <p:ph idx="4294967295" type="body"/>
          </p:nvPr>
        </p:nvSpPr>
        <p:spPr>
          <a:xfrm>
            <a:off x="544612" y="1304879"/>
            <a:ext cx="3773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800" lIns="87800" spcFirstLastPara="1" rIns="87800" wrap="square" tIns="87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28">
                <a:solidFill>
                  <a:schemeClr val="lt1"/>
                </a:solidFill>
              </a:rPr>
              <a:t>Pros</a:t>
            </a:r>
            <a:endParaRPr sz="1728">
              <a:solidFill>
                <a:schemeClr val="lt1"/>
              </a:solidFill>
            </a:endParaRPr>
          </a:p>
        </p:txBody>
      </p:sp>
      <p:sp>
        <p:nvSpPr>
          <p:cNvPr id="153" name="Google Shape;153;p17"/>
          <p:cNvSpPr txBox="1"/>
          <p:nvPr>
            <p:ph idx="4294967295" type="body"/>
          </p:nvPr>
        </p:nvSpPr>
        <p:spPr>
          <a:xfrm>
            <a:off x="431961" y="1748273"/>
            <a:ext cx="37494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800" lIns="87800" spcFirstLastPara="1" rIns="87800" wrap="square" tIns="878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Reconstructs masked segments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captures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fine-grained temporal features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ECG waveforms.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Works with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 dataset size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no negatives or clusters needed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robust to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imbalance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because pretraining is label-free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augmentation: masking itself acts as the core learning signal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Reconstructs masked ECG segments, learns fine-grained features, robust to imbalance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4569198" y="1298707"/>
            <a:ext cx="3976654" cy="3287602"/>
            <a:chOff x="3320450" y="1304875"/>
            <a:chExt cx="2632500" cy="3416400"/>
          </a:xfrm>
        </p:grpSpPr>
        <p:sp>
          <p:nvSpPr>
            <p:cNvPr id="155" name="Google Shape;155;p17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7975" lIns="87975" spcFirstLastPara="1" rIns="87975" wrap="square" tIns="87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975" lIns="87975" spcFirstLastPara="1" rIns="87975" wrap="square" tIns="87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17"/>
          <p:cNvSpPr txBox="1"/>
          <p:nvPr>
            <p:ph idx="4294967295" type="body"/>
          </p:nvPr>
        </p:nvSpPr>
        <p:spPr>
          <a:xfrm>
            <a:off x="4673686" y="1141575"/>
            <a:ext cx="37683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975" lIns="87975" spcFirstLastPara="1" rIns="87975" wrap="square" tIns="879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55"/>
              </a:spcBef>
              <a:spcAft>
                <a:spcPts val="0"/>
              </a:spcAft>
              <a:buSzPts val="1800"/>
              <a:buNone/>
            </a:pPr>
            <a:r>
              <a:rPr lang="en" sz="1732">
                <a:solidFill>
                  <a:schemeClr val="lt1"/>
                </a:solidFill>
              </a:rPr>
              <a:t>Cons</a:t>
            </a:r>
            <a:endParaRPr sz="1732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32">
              <a:solidFill>
                <a:schemeClr val="lt1"/>
              </a:solidFill>
            </a:endParaRPr>
          </a:p>
        </p:txBody>
      </p:sp>
      <p:sp>
        <p:nvSpPr>
          <p:cNvPr id="158" name="Google Shape;158;p17"/>
          <p:cNvSpPr txBox="1"/>
          <p:nvPr>
            <p:ph idx="4294967295" type="body"/>
          </p:nvPr>
        </p:nvSpPr>
        <p:spPr>
          <a:xfrm>
            <a:off x="4618627" y="1831188"/>
            <a:ext cx="37446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7975" lIns="87975" spcFirstLastPara="1" rIns="87975" wrap="square" tIns="879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Focuses on reconstruction → still requires downstream fine-tuning for classification.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39968" rtl="0" algn="l">
              <a:lnSpc>
                <a:spcPct val="115000"/>
              </a:lnSpc>
              <a:spcBef>
                <a:spcPts val="1200"/>
              </a:spcBef>
              <a:spcAft>
                <a:spcPts val="154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MAE</a:t>
            </a:r>
            <a:endParaRPr/>
          </a:p>
        </p:txBody>
      </p:sp>
      <p:pic>
        <p:nvPicPr>
          <p:cNvPr id="164" name="Google Shape;164;p18" title="Screenshot 2025-12-14 2046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7250612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Moco</a:t>
            </a:r>
            <a:endParaRPr/>
          </a:p>
        </p:txBody>
      </p:sp>
      <p:pic>
        <p:nvPicPr>
          <p:cNvPr id="170" name="Google Shape;170;p19" title="Screenshot 2025-12-14 2240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4747967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31947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JEPA</a:t>
            </a:r>
            <a:endParaRPr b="1" sz="3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431946" y="1304847"/>
            <a:ext cx="3976775" cy="3281452"/>
            <a:chOff x="431925" y="1304875"/>
            <a:chExt cx="2628925" cy="3416400"/>
          </a:xfrm>
        </p:grpSpPr>
        <p:sp>
          <p:nvSpPr>
            <p:cNvPr id="177" name="Google Shape;177;p20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7800" lIns="87800" spcFirstLastPara="1" rIns="87800" wrap="square" tIns="8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800" lIns="87800" spcFirstLastPara="1" rIns="87800" wrap="square" tIns="8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20"/>
          <p:cNvSpPr txBox="1"/>
          <p:nvPr>
            <p:ph idx="4294967295" type="body"/>
          </p:nvPr>
        </p:nvSpPr>
        <p:spPr>
          <a:xfrm>
            <a:off x="544612" y="1304879"/>
            <a:ext cx="3773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800" lIns="87800" spcFirstLastPara="1" rIns="87800" wrap="square" tIns="87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28">
                <a:solidFill>
                  <a:schemeClr val="lt1"/>
                </a:solidFill>
              </a:rPr>
              <a:t>Pros</a:t>
            </a:r>
            <a:endParaRPr sz="1728">
              <a:solidFill>
                <a:schemeClr val="lt1"/>
              </a:solidFill>
            </a:endParaRPr>
          </a:p>
        </p:txBody>
      </p:sp>
      <p:sp>
        <p:nvSpPr>
          <p:cNvPr id="180" name="Google Shape;180;p20"/>
          <p:cNvSpPr txBox="1"/>
          <p:nvPr>
            <p:ph idx="4294967295" type="body"/>
          </p:nvPr>
        </p:nvSpPr>
        <p:spPr>
          <a:xfrm>
            <a:off x="544600" y="1748275"/>
            <a:ext cx="36366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800" lIns="87800" spcFirstLastPara="1" rIns="87800" wrap="square" tIns="878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Designed for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latent modeling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ideal for ECG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temporal sequences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learn patterns of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waveform progression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is helpful for MI or STTC detection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with medium datasets; does not require massive pretraining.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for time-series ECG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537"/>
              </a:spcBef>
              <a:spcAft>
                <a:spcPts val="1537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569198" y="1298707"/>
            <a:ext cx="3976654" cy="3287602"/>
            <a:chOff x="3320450" y="1304875"/>
            <a:chExt cx="2632500" cy="3416400"/>
          </a:xfrm>
        </p:grpSpPr>
        <p:sp>
          <p:nvSpPr>
            <p:cNvPr id="182" name="Google Shape;182;p20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7975" lIns="87975" spcFirstLastPara="1" rIns="87975" wrap="square" tIns="87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975" lIns="87975" spcFirstLastPara="1" rIns="87975" wrap="square" tIns="87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20"/>
          <p:cNvSpPr txBox="1"/>
          <p:nvPr>
            <p:ph idx="4294967295" type="body"/>
          </p:nvPr>
        </p:nvSpPr>
        <p:spPr>
          <a:xfrm>
            <a:off x="4673686" y="1141575"/>
            <a:ext cx="37683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87975" lIns="87975" spcFirstLastPara="1" rIns="87975" wrap="square" tIns="879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55"/>
              </a:spcBef>
              <a:spcAft>
                <a:spcPts val="0"/>
              </a:spcAft>
              <a:buSzPts val="1800"/>
              <a:buNone/>
            </a:pPr>
            <a:r>
              <a:rPr lang="en" sz="1732">
                <a:solidFill>
                  <a:schemeClr val="lt1"/>
                </a:solidFill>
              </a:rPr>
              <a:t>Cons</a:t>
            </a:r>
            <a:endParaRPr sz="1732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32">
              <a:solidFill>
                <a:schemeClr val="lt1"/>
              </a:solidFill>
            </a:endParaRPr>
          </a:p>
        </p:txBody>
      </p:sp>
      <p:sp>
        <p:nvSpPr>
          <p:cNvPr id="185" name="Google Shape;185;p20"/>
          <p:cNvSpPr txBox="1"/>
          <p:nvPr>
            <p:ph idx="4294967295" type="body"/>
          </p:nvPr>
        </p:nvSpPr>
        <p:spPr>
          <a:xfrm>
            <a:off x="4684752" y="1823588"/>
            <a:ext cx="37446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7975" lIns="87975" spcFirstLastPara="1" rIns="87975" wrap="square" tIns="879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Slightly complex to implement, less off-the-shelf code for ECG.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Needs careful choice of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window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Jepa</a:t>
            </a:r>
            <a:endParaRPr/>
          </a:p>
        </p:txBody>
      </p:sp>
      <p:pic>
        <p:nvPicPr>
          <p:cNvPr id="191" name="Google Shape;191;p21" title="f0873a65-3e5d-49f0-8c29-d5ca4615321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75" y="2144000"/>
            <a:ext cx="8839204" cy="1614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31947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sz="3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7" name="Google Shape;197;p2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{2576D64E-3122-49CC-8C4B-1C2C2C6EBC95}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Criterion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Why It Matters for PTB-XL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Selected Models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Works with medium dataset size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PTB-XL has ~20k samples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BYOL, MAE, JEPA</a:t>
                      </a:r>
                      <a:r>
                        <a:rPr lang="en"/>
                        <a:t>,Moco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Learns temporal or sequential patterns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ECG signals have time dependencies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JEPA, MAE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 need for negative pairs (simpler training)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Avoids large batch issues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BYOL, MAE,</a:t>
                      </a:r>
                      <a:r>
                        <a:rPr lang="en"/>
                        <a:t>moco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Can handle class imbalance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PTB-XL is imbalanced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MAE, BYOL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Suited for 1D time-series adaptation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ECG is not image data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JEPA, MAE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8" name="Google Shape;198;p2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{ECF99C97-50BE-4EA5-9760-22754CAFF92B}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