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3914D3-9C66-4EAC-9977-05CFD4BD3766}">
  <a:tblStyle styleId="{B13914D3-9C66-4EAC-9977-05CFD4BD37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597D157B-EFE8-4919-A441-03321F44D75C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c6f9e470d_0_12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c6f9e470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6fc764617b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6fc764617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fc764617b_0_4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6fc764617b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c6f9e470d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c6f9e470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9895241f1c_1_2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9895241f1c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895241f1c_1_4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895241f1c_1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9895241f1c_1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9895241f1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3"/>
          <p:cNvGrpSpPr/>
          <p:nvPr/>
        </p:nvGrpSpPr>
        <p:grpSpPr>
          <a:xfrm>
            <a:off x="4939500" y="1219611"/>
            <a:ext cx="3837000" cy="2704200"/>
            <a:chOff x="4939500" y="1219611"/>
            <a:chExt cx="3837000" cy="2704200"/>
          </a:xfrm>
        </p:grpSpPr>
        <p:cxnSp>
          <p:nvCxnSpPr>
            <p:cNvPr id="86" name="Google Shape;86;p13"/>
            <p:cNvCxnSpPr/>
            <p:nvPr/>
          </p:nvCxnSpPr>
          <p:spPr>
            <a:xfrm>
              <a:off x="4939500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3"/>
            <p:cNvCxnSpPr/>
            <p:nvPr/>
          </p:nvCxnSpPr>
          <p:spPr>
            <a:xfrm>
              <a:off x="5365833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3"/>
            <p:cNvCxnSpPr/>
            <p:nvPr/>
          </p:nvCxnSpPr>
          <p:spPr>
            <a:xfrm>
              <a:off x="5792167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3"/>
            <p:cNvCxnSpPr/>
            <p:nvPr/>
          </p:nvCxnSpPr>
          <p:spPr>
            <a:xfrm>
              <a:off x="6218500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90" name="Google Shape;90;p13"/>
            <p:cNvCxnSpPr/>
            <p:nvPr/>
          </p:nvCxnSpPr>
          <p:spPr>
            <a:xfrm>
              <a:off x="6644834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91" name="Google Shape;91;p13"/>
            <p:cNvCxnSpPr/>
            <p:nvPr/>
          </p:nvCxnSpPr>
          <p:spPr>
            <a:xfrm>
              <a:off x="7071166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92" name="Google Shape;92;p13"/>
            <p:cNvCxnSpPr/>
            <p:nvPr/>
          </p:nvCxnSpPr>
          <p:spPr>
            <a:xfrm>
              <a:off x="7497500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93" name="Google Shape;93;p13"/>
            <p:cNvCxnSpPr/>
            <p:nvPr/>
          </p:nvCxnSpPr>
          <p:spPr>
            <a:xfrm>
              <a:off x="7923834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94" name="Google Shape;94;p13"/>
            <p:cNvCxnSpPr/>
            <p:nvPr/>
          </p:nvCxnSpPr>
          <p:spPr>
            <a:xfrm>
              <a:off x="8350166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  <p:cxnSp>
          <p:nvCxnSpPr>
            <p:cNvPr id="95" name="Google Shape;95;p13"/>
            <p:cNvCxnSpPr/>
            <p:nvPr/>
          </p:nvCxnSpPr>
          <p:spPr>
            <a:xfrm>
              <a:off x="8776500" y="1219611"/>
              <a:ext cx="0" cy="2704200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dash"/>
              <a:round/>
              <a:headEnd len="sm" w="sm" type="none"/>
              <a:tailEnd len="sm" w="sm" type="none"/>
            </a:ln>
          </p:spPr>
        </p:cxnSp>
      </p:grpSp>
      <p:sp>
        <p:nvSpPr>
          <p:cNvPr id="96" name="Google Shape;96;p13"/>
          <p:cNvSpPr/>
          <p:nvPr/>
        </p:nvSpPr>
        <p:spPr>
          <a:xfrm>
            <a:off x="7014920" y="2133119"/>
            <a:ext cx="286500" cy="286500"/>
          </a:xfrm>
          <a:prstGeom prst="ellipse">
            <a:avLst/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3"/>
          <p:cNvSpPr txBox="1"/>
          <p:nvPr>
            <p:ph type="title"/>
          </p:nvPr>
        </p:nvSpPr>
        <p:spPr>
          <a:xfrm>
            <a:off x="265500" y="947775"/>
            <a:ext cx="4045200" cy="380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Self-Supervised Learning for 12-Lead ECG Classification on PTB-XL</a:t>
            </a:r>
            <a:endParaRPr/>
          </a:p>
        </p:txBody>
      </p:sp>
      <p:grpSp>
        <p:nvGrpSpPr>
          <p:cNvPr id="98" name="Google Shape;98;p13"/>
          <p:cNvGrpSpPr/>
          <p:nvPr/>
        </p:nvGrpSpPr>
        <p:grpSpPr>
          <a:xfrm>
            <a:off x="4939534" y="2017046"/>
            <a:ext cx="3825543" cy="1573620"/>
            <a:chOff x="1000000" y="2393988"/>
            <a:chExt cx="4144235" cy="1704713"/>
          </a:xfrm>
        </p:grpSpPr>
        <p:sp>
          <p:nvSpPr>
            <p:cNvPr id="99" name="Google Shape;99;p13"/>
            <p:cNvSpPr/>
            <p:nvPr/>
          </p:nvSpPr>
          <p:spPr>
            <a:xfrm>
              <a:off x="1000000" y="2440003"/>
              <a:ext cx="4144235" cy="1631269"/>
            </a:xfrm>
            <a:custGeom>
              <a:rect b="b" l="l" r="r" t="t"/>
              <a:pathLst>
                <a:path extrusionOk="0" h="90088" w="165422">
                  <a:moveTo>
                    <a:pt x="0" y="65550"/>
                  </a:moveTo>
                  <a:cubicBezTo>
                    <a:pt x="3559" y="56002"/>
                    <a:pt x="14632" y="11595"/>
                    <a:pt x="21355" y="8262"/>
                  </a:cubicBezTo>
                  <a:cubicBezTo>
                    <a:pt x="28078" y="4929"/>
                    <a:pt x="34067" y="46906"/>
                    <a:pt x="40338" y="45550"/>
                  </a:cubicBezTo>
                  <a:cubicBezTo>
                    <a:pt x="46609" y="44194"/>
                    <a:pt x="52711" y="2161"/>
                    <a:pt x="58982" y="127"/>
                  </a:cubicBezTo>
                  <a:cubicBezTo>
                    <a:pt x="65253" y="-1907"/>
                    <a:pt x="71807" y="30974"/>
                    <a:pt x="77965" y="33347"/>
                  </a:cubicBezTo>
                  <a:cubicBezTo>
                    <a:pt x="84123" y="35720"/>
                    <a:pt x="90055" y="6285"/>
                    <a:pt x="95931" y="14364"/>
                  </a:cubicBezTo>
                  <a:cubicBezTo>
                    <a:pt x="101807" y="22443"/>
                    <a:pt x="107626" y="77414"/>
                    <a:pt x="113219" y="81821"/>
                  </a:cubicBezTo>
                  <a:cubicBezTo>
                    <a:pt x="118812" y="86228"/>
                    <a:pt x="123671" y="39448"/>
                    <a:pt x="129490" y="40804"/>
                  </a:cubicBezTo>
                  <a:cubicBezTo>
                    <a:pt x="135309" y="42160"/>
                    <a:pt x="142145" y="92047"/>
                    <a:pt x="148134" y="89957"/>
                  </a:cubicBezTo>
                  <a:cubicBezTo>
                    <a:pt x="154123" y="87867"/>
                    <a:pt x="162541" y="38545"/>
                    <a:pt x="165422" y="28262"/>
                  </a:cubicBezTo>
                </a:path>
              </a:pathLst>
            </a:custGeom>
            <a:noFill/>
            <a:ln cap="flat" cmpd="sng" w="19050">
              <a:solidFill>
                <a:schemeClr val="lt1"/>
              </a:solidFill>
              <a:prstDash val="solid"/>
              <a:round/>
              <a:headEnd len="med" w="med" type="oval"/>
              <a:tailEnd len="med" w="med" type="oval"/>
            </a:ln>
          </p:spPr>
        </p:sp>
        <p:sp>
          <p:nvSpPr>
            <p:cNvPr id="100" name="Google Shape;100;p13"/>
            <p:cNvSpPr/>
            <p:nvPr/>
          </p:nvSpPr>
          <p:spPr>
            <a:xfrm>
              <a:off x="4658400" y="4014100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3"/>
            <p:cNvSpPr/>
            <p:nvPr/>
          </p:nvSpPr>
          <p:spPr>
            <a:xfrm>
              <a:off x="4195525" y="3147350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3"/>
            <p:cNvSpPr/>
            <p:nvPr/>
          </p:nvSpPr>
          <p:spPr>
            <a:xfrm>
              <a:off x="3800700" y="3868900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3"/>
            <p:cNvSpPr/>
            <p:nvPr/>
          </p:nvSpPr>
          <p:spPr>
            <a:xfrm>
              <a:off x="3358650" y="2637813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3"/>
            <p:cNvSpPr/>
            <p:nvPr/>
          </p:nvSpPr>
          <p:spPr>
            <a:xfrm>
              <a:off x="2909400" y="2993013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3"/>
            <p:cNvSpPr/>
            <p:nvPr/>
          </p:nvSpPr>
          <p:spPr>
            <a:xfrm>
              <a:off x="2437450" y="2393988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3"/>
            <p:cNvSpPr/>
            <p:nvPr/>
          </p:nvSpPr>
          <p:spPr>
            <a:xfrm>
              <a:off x="1974575" y="3213325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3"/>
            <p:cNvSpPr/>
            <p:nvPr/>
          </p:nvSpPr>
          <p:spPr>
            <a:xfrm>
              <a:off x="1500000" y="2553225"/>
              <a:ext cx="84600" cy="84600"/>
            </a:xfrm>
            <a:prstGeom prst="ellipse">
              <a:avLst/>
            </a:prstGeom>
            <a:solidFill>
              <a:schemeClr val="lt1"/>
            </a:solidFill>
            <a:ln cap="flat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" name="Google Shape;108;p13"/>
          <p:cNvGrpSpPr/>
          <p:nvPr/>
        </p:nvGrpSpPr>
        <p:grpSpPr>
          <a:xfrm>
            <a:off x="4939557" y="1778136"/>
            <a:ext cx="3836911" cy="1503799"/>
            <a:chOff x="1000025" y="2059300"/>
            <a:chExt cx="4156550" cy="1629075"/>
          </a:xfrm>
        </p:grpSpPr>
        <p:sp>
          <p:nvSpPr>
            <p:cNvPr id="109" name="Google Shape;109;p13"/>
            <p:cNvSpPr/>
            <p:nvPr/>
          </p:nvSpPr>
          <p:spPr>
            <a:xfrm>
              <a:off x="1000025" y="2083952"/>
              <a:ext cx="4156550" cy="1576975"/>
            </a:xfrm>
            <a:custGeom>
              <a:rect b="b" l="l" r="r" t="t"/>
              <a:pathLst>
                <a:path extrusionOk="0" h="63079" w="166262">
                  <a:moveTo>
                    <a:pt x="0" y="34952"/>
                  </a:moveTo>
                  <a:cubicBezTo>
                    <a:pt x="3623" y="29133"/>
                    <a:pt x="14946" y="1167"/>
                    <a:pt x="21740" y="37"/>
                  </a:cubicBezTo>
                  <a:cubicBezTo>
                    <a:pt x="28534" y="-1093"/>
                    <a:pt x="34478" y="24048"/>
                    <a:pt x="40762" y="28172"/>
                  </a:cubicBezTo>
                  <a:cubicBezTo>
                    <a:pt x="47046" y="32296"/>
                    <a:pt x="53256" y="18986"/>
                    <a:pt x="59446" y="24782"/>
                  </a:cubicBezTo>
                  <a:cubicBezTo>
                    <a:pt x="65636" y="30578"/>
                    <a:pt x="71730" y="60803"/>
                    <a:pt x="77901" y="62950"/>
                  </a:cubicBezTo>
                  <a:cubicBezTo>
                    <a:pt x="84072" y="65097"/>
                    <a:pt x="90490" y="39675"/>
                    <a:pt x="96472" y="37664"/>
                  </a:cubicBezTo>
                  <a:cubicBezTo>
                    <a:pt x="102455" y="35653"/>
                    <a:pt x="108078" y="54726"/>
                    <a:pt x="113796" y="50884"/>
                  </a:cubicBezTo>
                  <a:cubicBezTo>
                    <a:pt x="119514" y="47042"/>
                    <a:pt x="125063" y="18059"/>
                    <a:pt x="130781" y="14613"/>
                  </a:cubicBezTo>
                  <a:cubicBezTo>
                    <a:pt x="136499" y="11167"/>
                    <a:pt x="142192" y="30515"/>
                    <a:pt x="148105" y="30206"/>
                  </a:cubicBezTo>
                  <a:cubicBezTo>
                    <a:pt x="154019" y="29897"/>
                    <a:pt x="163236" y="15665"/>
                    <a:pt x="166262" y="12757"/>
                  </a:cubicBezTo>
                </a:path>
              </a:pathLst>
            </a:cu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oval"/>
              <a:tailEnd len="med" w="med" type="oval"/>
            </a:ln>
          </p:spPr>
        </p:sp>
        <p:sp>
          <p:nvSpPr>
            <p:cNvPr id="110" name="Google Shape;110;p13"/>
            <p:cNvSpPr/>
            <p:nvPr/>
          </p:nvSpPr>
          <p:spPr>
            <a:xfrm>
              <a:off x="1500000" y="2059300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3"/>
            <p:cNvSpPr/>
            <p:nvPr/>
          </p:nvSpPr>
          <p:spPr>
            <a:xfrm>
              <a:off x="1974575" y="2737275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3"/>
            <p:cNvSpPr/>
            <p:nvPr/>
          </p:nvSpPr>
          <p:spPr>
            <a:xfrm>
              <a:off x="2437450" y="2652675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3"/>
            <p:cNvSpPr/>
            <p:nvPr/>
          </p:nvSpPr>
          <p:spPr>
            <a:xfrm>
              <a:off x="2909400" y="3603775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3"/>
            <p:cNvSpPr/>
            <p:nvPr/>
          </p:nvSpPr>
          <p:spPr>
            <a:xfrm>
              <a:off x="3358650" y="2993025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3"/>
            <p:cNvSpPr/>
            <p:nvPr/>
          </p:nvSpPr>
          <p:spPr>
            <a:xfrm>
              <a:off x="3780700" y="3315225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3"/>
            <p:cNvSpPr/>
            <p:nvPr/>
          </p:nvSpPr>
          <p:spPr>
            <a:xfrm>
              <a:off x="4216350" y="2412175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3"/>
            <p:cNvSpPr/>
            <p:nvPr/>
          </p:nvSpPr>
          <p:spPr>
            <a:xfrm>
              <a:off x="4658400" y="2802450"/>
              <a:ext cx="84600" cy="84600"/>
            </a:xfrm>
            <a:prstGeom prst="ellipse">
              <a:avLst/>
            </a:prstGeom>
            <a:solidFill>
              <a:schemeClr val="accent4"/>
            </a:solidFill>
            <a:ln cap="flat" cmpd="sng" w="1905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4"/>
          <p:cNvSpPr txBox="1"/>
          <p:nvPr>
            <p:ph type="title"/>
          </p:nvPr>
        </p:nvSpPr>
        <p:spPr>
          <a:xfrm>
            <a:off x="311700" y="397175"/>
            <a:ext cx="8520600" cy="42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PTB-XL ECG Dataset</a:t>
            </a:r>
            <a:endParaRPr b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Source: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PhysioNet (2020)</a:t>
            </a:r>
            <a:b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Size: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~21,837 12-lead ECGs from ~18,885 patients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ECG Details: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Duration: 10 seconds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Sampling: 100 Hz (also 500 Hz)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Patient info: age, sex, heart rate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Imbalanced Dataset : Large proportion of the dataset is Normal Class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 txBox="1"/>
          <p:nvPr>
            <p:ph type="title"/>
          </p:nvPr>
        </p:nvSpPr>
        <p:spPr>
          <a:xfrm>
            <a:off x="31947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BYOL</a:t>
            </a:r>
            <a:endParaRPr b="1" sz="3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28" name="Google Shape;128;p15"/>
          <p:cNvGrpSpPr/>
          <p:nvPr/>
        </p:nvGrpSpPr>
        <p:grpSpPr>
          <a:xfrm>
            <a:off x="431946" y="1304847"/>
            <a:ext cx="3976775" cy="3281452"/>
            <a:chOff x="431925" y="1304875"/>
            <a:chExt cx="2628925" cy="3416400"/>
          </a:xfrm>
        </p:grpSpPr>
        <p:sp>
          <p:nvSpPr>
            <p:cNvPr id="129" name="Google Shape;129;p15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15"/>
          <p:cNvSpPr txBox="1"/>
          <p:nvPr>
            <p:ph idx="4294967295" type="body"/>
          </p:nvPr>
        </p:nvSpPr>
        <p:spPr>
          <a:xfrm>
            <a:off x="544612" y="1304879"/>
            <a:ext cx="3773400" cy="443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28">
                <a:solidFill>
                  <a:schemeClr val="lt1"/>
                </a:solidFill>
              </a:rPr>
              <a:t>Pros</a:t>
            </a:r>
            <a:endParaRPr sz="1728">
              <a:solidFill>
                <a:schemeClr val="lt1"/>
              </a:solidFill>
            </a:endParaRPr>
          </a:p>
        </p:txBody>
      </p:sp>
      <p:sp>
        <p:nvSpPr>
          <p:cNvPr id="132" name="Google Shape;132;p15"/>
          <p:cNvSpPr txBox="1"/>
          <p:nvPr>
            <p:ph idx="4294967295" type="body"/>
          </p:nvPr>
        </p:nvSpPr>
        <p:spPr>
          <a:xfrm>
            <a:off x="431961" y="1748273"/>
            <a:ext cx="3749400" cy="2684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Works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without negative samples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so medium-sized datasets like ours are sufficient.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Learns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robust latent features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from augmented ECG signals (time-warp, jitter, scaling)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Can handle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imbalanced datasets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Good starting point if we want embeddings for downstream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classification or clustering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37"/>
              </a:spcBef>
              <a:spcAft>
                <a:spcPts val="1537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3" name="Google Shape;133;p15"/>
          <p:cNvGrpSpPr/>
          <p:nvPr/>
        </p:nvGrpSpPr>
        <p:grpSpPr>
          <a:xfrm>
            <a:off x="4569198" y="1298707"/>
            <a:ext cx="3976654" cy="3287602"/>
            <a:chOff x="3320450" y="1304875"/>
            <a:chExt cx="2632500" cy="3416400"/>
          </a:xfrm>
        </p:grpSpPr>
        <p:sp>
          <p:nvSpPr>
            <p:cNvPr id="134" name="Google Shape;134;p15"/>
            <p:cNvSpPr txBox="1"/>
            <p:nvPr/>
          </p:nvSpPr>
          <p:spPr>
            <a:xfrm>
              <a:off x="3324050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33204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6" name="Google Shape;136;p15"/>
          <p:cNvSpPr txBox="1"/>
          <p:nvPr>
            <p:ph idx="4294967295" type="body"/>
          </p:nvPr>
        </p:nvSpPr>
        <p:spPr>
          <a:xfrm>
            <a:off x="4673686" y="1141575"/>
            <a:ext cx="3768300" cy="7419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rPr lang="en" sz="1732">
                <a:solidFill>
                  <a:schemeClr val="lt1"/>
                </a:solidFill>
              </a:rPr>
              <a:t>Cons</a:t>
            </a:r>
            <a:endParaRPr sz="1732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t/>
            </a:r>
            <a:endParaRPr sz="1732">
              <a:solidFill>
                <a:schemeClr val="lt1"/>
              </a:solidFill>
            </a:endParaRPr>
          </a:p>
        </p:txBody>
      </p:sp>
      <p:sp>
        <p:nvSpPr>
          <p:cNvPr id="137" name="Google Shape;137;p15"/>
          <p:cNvSpPr txBox="1"/>
          <p:nvPr>
            <p:ph idx="4294967295" type="body"/>
          </p:nvPr>
        </p:nvSpPr>
        <p:spPr>
          <a:xfrm>
            <a:off x="4684752" y="1823588"/>
            <a:ext cx="3744600" cy="26895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Doesn’t explicitly model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temporal predictive pattern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Requires careful augmentation to avoid distorting ECG morphology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>
            <p:ph type="title"/>
          </p:nvPr>
        </p:nvSpPr>
        <p:spPr>
          <a:xfrm>
            <a:off x="31947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SwAV</a:t>
            </a:r>
            <a:endParaRPr b="1" sz="3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43" name="Google Shape;143;p16"/>
          <p:cNvGrpSpPr/>
          <p:nvPr/>
        </p:nvGrpSpPr>
        <p:grpSpPr>
          <a:xfrm>
            <a:off x="431946" y="1304847"/>
            <a:ext cx="3976775" cy="3281452"/>
            <a:chOff x="431925" y="1304875"/>
            <a:chExt cx="2628925" cy="3416400"/>
          </a:xfrm>
        </p:grpSpPr>
        <p:sp>
          <p:nvSpPr>
            <p:cNvPr id="144" name="Google Shape;144;p16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6"/>
          <p:cNvSpPr txBox="1"/>
          <p:nvPr>
            <p:ph idx="4294967295" type="body"/>
          </p:nvPr>
        </p:nvSpPr>
        <p:spPr>
          <a:xfrm>
            <a:off x="544612" y="1304879"/>
            <a:ext cx="3773400" cy="443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28">
                <a:solidFill>
                  <a:schemeClr val="lt1"/>
                </a:solidFill>
              </a:rPr>
              <a:t>Pros</a:t>
            </a:r>
            <a:endParaRPr sz="1728">
              <a:solidFill>
                <a:schemeClr val="lt1"/>
              </a:solidFill>
            </a:endParaRPr>
          </a:p>
        </p:txBody>
      </p:sp>
      <p:sp>
        <p:nvSpPr>
          <p:cNvPr id="147" name="Google Shape;147;p16"/>
          <p:cNvSpPr txBox="1"/>
          <p:nvPr>
            <p:ph idx="4294967295" type="body"/>
          </p:nvPr>
        </p:nvSpPr>
        <p:spPr>
          <a:xfrm>
            <a:off x="544450" y="1748275"/>
            <a:ext cx="3773400" cy="2684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AutoNum type="arabicPeriod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Learns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cluster-level patterns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which can separate ECG morphologies indirectly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AutoNum type="arabicPeriod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Doesn’t require large negatives like MoCo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37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37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37"/>
              </a:spcBef>
              <a:spcAft>
                <a:spcPts val="1537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8" name="Google Shape;148;p16"/>
          <p:cNvGrpSpPr/>
          <p:nvPr/>
        </p:nvGrpSpPr>
        <p:grpSpPr>
          <a:xfrm>
            <a:off x="4569198" y="1298707"/>
            <a:ext cx="3976654" cy="3287602"/>
            <a:chOff x="3320450" y="1304875"/>
            <a:chExt cx="2632500" cy="3416400"/>
          </a:xfrm>
        </p:grpSpPr>
        <p:sp>
          <p:nvSpPr>
            <p:cNvPr id="149" name="Google Shape;149;p16"/>
            <p:cNvSpPr txBox="1"/>
            <p:nvPr/>
          </p:nvSpPr>
          <p:spPr>
            <a:xfrm>
              <a:off x="3324050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6"/>
            <p:cNvSpPr/>
            <p:nvPr/>
          </p:nvSpPr>
          <p:spPr>
            <a:xfrm>
              <a:off x="33204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1" name="Google Shape;151;p16"/>
          <p:cNvSpPr txBox="1"/>
          <p:nvPr>
            <p:ph idx="4294967295" type="body"/>
          </p:nvPr>
        </p:nvSpPr>
        <p:spPr>
          <a:xfrm>
            <a:off x="4673686" y="1141575"/>
            <a:ext cx="3768300" cy="7419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rPr lang="en" sz="1732">
                <a:solidFill>
                  <a:schemeClr val="lt1"/>
                </a:solidFill>
              </a:rPr>
              <a:t>Cons</a:t>
            </a:r>
            <a:endParaRPr sz="1732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t/>
            </a:r>
            <a:endParaRPr sz="1732">
              <a:solidFill>
                <a:schemeClr val="lt1"/>
              </a:solidFill>
            </a:endParaRPr>
          </a:p>
        </p:txBody>
      </p:sp>
      <p:sp>
        <p:nvSpPr>
          <p:cNvPr id="152" name="Google Shape;152;p16"/>
          <p:cNvSpPr txBox="1"/>
          <p:nvPr>
            <p:ph idx="4294967295" type="body"/>
          </p:nvPr>
        </p:nvSpPr>
        <p:spPr>
          <a:xfrm>
            <a:off x="4684752" y="1823588"/>
            <a:ext cx="3744600" cy="26895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Designed for images; adaptation for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1D ECG signals is tricky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Needs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strong augmentations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for good clustering—if augmentations are poor, model fail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Medium-sized dataset (16k samples) may be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 small for stable clustering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>
            <p:ph type="title"/>
          </p:nvPr>
        </p:nvSpPr>
        <p:spPr>
          <a:xfrm>
            <a:off x="31947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MAE</a:t>
            </a:r>
            <a:endParaRPr b="1" sz="3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58" name="Google Shape;158;p17"/>
          <p:cNvGrpSpPr/>
          <p:nvPr/>
        </p:nvGrpSpPr>
        <p:grpSpPr>
          <a:xfrm>
            <a:off x="431946" y="1304847"/>
            <a:ext cx="3976775" cy="3281452"/>
            <a:chOff x="431925" y="1304875"/>
            <a:chExt cx="2628925" cy="3416400"/>
          </a:xfrm>
        </p:grpSpPr>
        <p:sp>
          <p:nvSpPr>
            <p:cNvPr id="159" name="Google Shape;159;p17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7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1" name="Google Shape;161;p17"/>
          <p:cNvSpPr txBox="1"/>
          <p:nvPr>
            <p:ph idx="4294967295" type="body"/>
          </p:nvPr>
        </p:nvSpPr>
        <p:spPr>
          <a:xfrm>
            <a:off x="544612" y="1304879"/>
            <a:ext cx="3773400" cy="443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28">
                <a:solidFill>
                  <a:schemeClr val="lt1"/>
                </a:solidFill>
              </a:rPr>
              <a:t>Pros</a:t>
            </a:r>
            <a:endParaRPr sz="1728">
              <a:solidFill>
                <a:schemeClr val="lt1"/>
              </a:solidFill>
            </a:endParaRPr>
          </a:p>
        </p:txBody>
      </p:sp>
      <p:sp>
        <p:nvSpPr>
          <p:cNvPr id="162" name="Google Shape;162;p17"/>
          <p:cNvSpPr txBox="1"/>
          <p:nvPr>
            <p:ph idx="4294967295" type="body"/>
          </p:nvPr>
        </p:nvSpPr>
        <p:spPr>
          <a:xfrm>
            <a:off x="431961" y="1748273"/>
            <a:ext cx="3749400" cy="2684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Reconstructs masked segments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captures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fine-grained temporal features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of ECG waveforms.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Works with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medium dataset size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; no negatives or clusters needed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Very robust to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 imbalance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because pretraining is label-free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Simple augmentation: masking itself acts as the core learning signal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Reconstructs masked ECG segments, learns fine-grained features, robust to imbalance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3" name="Google Shape;163;p17"/>
          <p:cNvGrpSpPr/>
          <p:nvPr/>
        </p:nvGrpSpPr>
        <p:grpSpPr>
          <a:xfrm>
            <a:off x="4569198" y="1298707"/>
            <a:ext cx="3976654" cy="3287602"/>
            <a:chOff x="3320450" y="1304875"/>
            <a:chExt cx="2632500" cy="3416400"/>
          </a:xfrm>
        </p:grpSpPr>
        <p:sp>
          <p:nvSpPr>
            <p:cNvPr id="164" name="Google Shape;164;p17"/>
            <p:cNvSpPr txBox="1"/>
            <p:nvPr/>
          </p:nvSpPr>
          <p:spPr>
            <a:xfrm>
              <a:off x="3324050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7"/>
            <p:cNvSpPr/>
            <p:nvPr/>
          </p:nvSpPr>
          <p:spPr>
            <a:xfrm>
              <a:off x="33204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6" name="Google Shape;166;p17"/>
          <p:cNvSpPr txBox="1"/>
          <p:nvPr>
            <p:ph idx="4294967295" type="body"/>
          </p:nvPr>
        </p:nvSpPr>
        <p:spPr>
          <a:xfrm>
            <a:off x="4673686" y="1141575"/>
            <a:ext cx="3768300" cy="7419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rPr lang="en" sz="1732">
                <a:solidFill>
                  <a:schemeClr val="lt1"/>
                </a:solidFill>
              </a:rPr>
              <a:t>Cons</a:t>
            </a:r>
            <a:endParaRPr sz="1732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t/>
            </a:r>
            <a:endParaRPr sz="1732">
              <a:solidFill>
                <a:schemeClr val="lt1"/>
              </a:solidFill>
            </a:endParaRPr>
          </a:p>
        </p:txBody>
      </p:sp>
      <p:sp>
        <p:nvSpPr>
          <p:cNvPr id="167" name="Google Shape;167;p17"/>
          <p:cNvSpPr txBox="1"/>
          <p:nvPr>
            <p:ph idx="4294967295" type="body"/>
          </p:nvPr>
        </p:nvSpPr>
        <p:spPr>
          <a:xfrm>
            <a:off x="4618627" y="1831188"/>
            <a:ext cx="3744600" cy="26895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Focuses on reconstruction → still requires downstream fine-tuning for classification.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9968" rtl="0" algn="l">
              <a:spcBef>
                <a:spcPts val="1200"/>
              </a:spcBef>
              <a:spcAft>
                <a:spcPts val="154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8"/>
          <p:cNvSpPr txBox="1"/>
          <p:nvPr>
            <p:ph type="title"/>
          </p:nvPr>
        </p:nvSpPr>
        <p:spPr>
          <a:xfrm>
            <a:off x="31947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JEPA</a:t>
            </a:r>
            <a:endParaRPr b="1" sz="3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73" name="Google Shape;173;p18"/>
          <p:cNvGrpSpPr/>
          <p:nvPr/>
        </p:nvGrpSpPr>
        <p:grpSpPr>
          <a:xfrm>
            <a:off x="431946" y="1304847"/>
            <a:ext cx="3976775" cy="3281452"/>
            <a:chOff x="431925" y="1304875"/>
            <a:chExt cx="2628925" cy="3416400"/>
          </a:xfrm>
        </p:grpSpPr>
        <p:sp>
          <p:nvSpPr>
            <p:cNvPr id="174" name="Google Shape;174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800" lIns="87800" spcFirstLastPara="1" rIns="87800" wrap="square" tIns="87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6" name="Google Shape;176;p18"/>
          <p:cNvSpPr txBox="1"/>
          <p:nvPr>
            <p:ph idx="4294967295" type="body"/>
          </p:nvPr>
        </p:nvSpPr>
        <p:spPr>
          <a:xfrm>
            <a:off x="544612" y="1304879"/>
            <a:ext cx="3773400" cy="443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28">
                <a:solidFill>
                  <a:schemeClr val="lt1"/>
                </a:solidFill>
              </a:rPr>
              <a:t>Pros</a:t>
            </a:r>
            <a:endParaRPr sz="1728">
              <a:solidFill>
                <a:schemeClr val="lt1"/>
              </a:solidFill>
            </a:endParaRPr>
          </a:p>
        </p:txBody>
      </p:sp>
      <p:sp>
        <p:nvSpPr>
          <p:cNvPr id="177" name="Google Shape;177;p18"/>
          <p:cNvSpPr txBox="1"/>
          <p:nvPr>
            <p:ph idx="4294967295" type="body"/>
          </p:nvPr>
        </p:nvSpPr>
        <p:spPr>
          <a:xfrm>
            <a:off x="544600" y="1748275"/>
            <a:ext cx="3636600" cy="2684400"/>
          </a:xfrm>
          <a:prstGeom prst="rect">
            <a:avLst/>
          </a:prstGeom>
        </p:spPr>
        <p:txBody>
          <a:bodyPr anchorCtr="0" anchor="t" bIns="87800" lIns="87800" spcFirstLastPara="1" rIns="87800" wrap="square" tIns="87800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Designed for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predictive latent modeling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ideal for ECG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temporal sequences</a:t>
            </a:r>
            <a:endParaRPr b="1"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Can learn patterns of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waveform progression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which is helpful for MI or STTC detection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Works with medium datasets; does not require massive pretraining.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ideal for time-series ECG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537"/>
              </a:spcBef>
              <a:spcAft>
                <a:spcPts val="1537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8" name="Google Shape;178;p18"/>
          <p:cNvGrpSpPr/>
          <p:nvPr/>
        </p:nvGrpSpPr>
        <p:grpSpPr>
          <a:xfrm>
            <a:off x="4569198" y="1298707"/>
            <a:ext cx="3976654" cy="3287602"/>
            <a:chOff x="3320450" y="1304875"/>
            <a:chExt cx="2632500" cy="3416400"/>
          </a:xfrm>
        </p:grpSpPr>
        <p:sp>
          <p:nvSpPr>
            <p:cNvPr id="179" name="Google Shape;179;p18"/>
            <p:cNvSpPr txBox="1"/>
            <p:nvPr/>
          </p:nvSpPr>
          <p:spPr>
            <a:xfrm>
              <a:off x="3324050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8"/>
            <p:cNvSpPr/>
            <p:nvPr/>
          </p:nvSpPr>
          <p:spPr>
            <a:xfrm>
              <a:off x="33204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87975" lIns="87975" spcFirstLastPara="1" rIns="87975" wrap="square" tIns="87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1" name="Google Shape;181;p18"/>
          <p:cNvSpPr txBox="1"/>
          <p:nvPr>
            <p:ph idx="4294967295" type="body"/>
          </p:nvPr>
        </p:nvSpPr>
        <p:spPr>
          <a:xfrm>
            <a:off x="4673686" y="1141575"/>
            <a:ext cx="3768300" cy="7419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rPr lang="en" sz="1732">
                <a:solidFill>
                  <a:schemeClr val="lt1"/>
                </a:solidFill>
              </a:rPr>
              <a:t>Cons</a:t>
            </a:r>
            <a:endParaRPr sz="1732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155"/>
              </a:spcBef>
              <a:spcAft>
                <a:spcPts val="0"/>
              </a:spcAft>
              <a:buNone/>
            </a:pPr>
            <a:r>
              <a:t/>
            </a:r>
            <a:endParaRPr sz="1732">
              <a:solidFill>
                <a:schemeClr val="lt1"/>
              </a:solidFill>
            </a:endParaRPr>
          </a:p>
        </p:txBody>
      </p:sp>
      <p:sp>
        <p:nvSpPr>
          <p:cNvPr id="182" name="Google Shape;182;p18"/>
          <p:cNvSpPr txBox="1"/>
          <p:nvPr>
            <p:ph idx="4294967295" type="body"/>
          </p:nvPr>
        </p:nvSpPr>
        <p:spPr>
          <a:xfrm>
            <a:off x="4684752" y="1823588"/>
            <a:ext cx="3744600" cy="2689500"/>
          </a:xfrm>
          <a:prstGeom prst="rect">
            <a:avLst/>
          </a:prstGeom>
        </p:spPr>
        <p:txBody>
          <a:bodyPr anchorCtr="0" anchor="t" bIns="87975" lIns="87975" spcFirstLastPara="1" rIns="87975" wrap="square" tIns="8797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Slightly complex to implement, less off-the-shelf code for ECG.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Needs careful choice of </a:t>
            </a:r>
            <a:r>
              <a:rPr b="1"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prediction window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"/>
          <p:cNvSpPr txBox="1"/>
          <p:nvPr>
            <p:ph type="title"/>
          </p:nvPr>
        </p:nvSpPr>
        <p:spPr>
          <a:xfrm>
            <a:off x="31947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Summary</a:t>
            </a:r>
            <a:endParaRPr b="1" sz="3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88" name="Google Shape;188;p19"/>
          <p:cNvGraphicFramePr/>
          <p:nvPr/>
        </p:nvGraphicFramePr>
        <p:xfrm>
          <a:off x="952500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{B13914D3-9C66-4EAC-9977-05CFD4BD3766}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Criterion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Why It Matters for PTB-XL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Selected Models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Works with medium dataset size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PTB-XL has ~20k samples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BYOL, MAE, JEPA,SwAV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Learns temporal or sequential patterns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ECG signals have time dependencies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JEPA, MAE</a:t>
                      </a:r>
                      <a:endParaRPr sz="17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need for negative pairs (simpler training)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Avoids large batch issues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BYOL, MAE, SwAV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Can handle class imbalance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PTB-XL is imbalanced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MAE, BYOL, SwAV</a:t>
                      </a:r>
                      <a:endParaRPr sz="17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Suited for 1D time-series adaptation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ECG is not image data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JEPA, MAE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189" name="Google Shape;189;p19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{597D157B-EFE8-4919-A441-03321F44D75C}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